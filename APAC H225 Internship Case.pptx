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5"/>
    <p:sldMasterId id="214748370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y="5143500" cx="9144000"/>
  <p:notesSz cx="6858000" cy="9144000"/>
  <p:embeddedFontLst>
    <p:embeddedFont>
      <p:font typeface="Inter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33B6DC1-8259-424D-9EF0-F45E665E5F09}">
  <a:tblStyle styleId="{B33B6DC1-8259-424D-9EF0-F45E665E5F0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832E23C-DA6A-46AE-A3DB-74699B9352F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font" Target="fonts/Inter-bold.fntdata"/><Relationship Id="rId14" Type="http://schemas.openxmlformats.org/officeDocument/2006/relationships/font" Target="fonts/Inter-regular.fntdata"/><Relationship Id="rId17" Type="http://schemas.openxmlformats.org/officeDocument/2006/relationships/font" Target="fonts/Inter-boldItalic.fntdata"/><Relationship Id="rId16" Type="http://schemas.openxmlformats.org/officeDocument/2006/relationships/font" Target="fonts/Inter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d9fd22ac1c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d9fd22ac1c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d9fd22ac1c_0_1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d9fd22ac1c_0_1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d9fd22ac1c_0_1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d9fd22ac1c_0_1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d9fd22ac1c_0_1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d9fd22ac1c_0_1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d9fd22ac1c_0_1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d9fd22ac1c_0_1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d9fd22ac1c_0_1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d9fd22ac1c_0_1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1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76" name="Google Shape;76;p17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8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18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3" name="Google Shape;83;p18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8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" name="Google Shape;90;p19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19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" name="Google Shape;92;p19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9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9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98" name="Google Shape;98;p20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2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0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p21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2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2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22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22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4" name="Google Shape;114;p22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22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6" name="Google Shape;116;p22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22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8" name="Google Shape;118;p22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22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3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4" name="Google Shape;124;p2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23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7" name="Google Shape;127;p23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" name="Google Shape;131;p24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3" name="Google Shape;133;p24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24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37" name="Google Shape;137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25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25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1" name="Google Shape;141;p25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25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6" name="Google Shape;146;p26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7" name="Google Shape;147;p26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48" name="Google Shape;148;p2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" name="Google Shape;149;p26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26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27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" name="Google Shape;154;p2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2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27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58" name="Google Shape;158;p27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9" name="Google Shape;159;p27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0" name="Google Shape;160;p27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27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27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27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4" name="Google Shape;164;p27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7" name="Google Shape;167;p28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8" name="Google Shape;168;p28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9" name="Google Shape;169;p28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8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2" name="Google Shape;172;p28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8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4" name="Google Shape;174;p28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8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28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7" name="Google Shape;177;p28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8" name="Google Shape;178;p28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1" name="Google Shape;181;p29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2" name="Google Shape;182;p29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3" name="Google Shape;183;p29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29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5" name="Google Shape;185;p2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29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9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9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9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30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93" name="Google Shape;193;p3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0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6" name="Google Shape;196;p30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7" name="Google Shape;197;p30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00" name="Google Shape;200;p31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01" name="Google Shape;201;p31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02" name="Google Shape;202;p31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03" name="Google Shape;203;p31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31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31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6" name="Google Shape;206;p31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7" name="Google Shape;207;p31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8" name="Google Shape;208;p3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1" name="Google Shape;211;p3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32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32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3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" name="Google Shape;215;p3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32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7" name="Google Shape;217;p32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8" name="Google Shape;218;p32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9" name="Google Shape;219;p32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" name="Google Shape;220;p32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33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33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33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33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33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3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33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33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1" name="Google Shape;231;p33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2" name="Google Shape;232;p33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3" name="Google Shape;233;p33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4" name="Google Shape;234;p33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5" name="Google Shape;235;p33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6" name="Google Shape;236;p33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7" name="Google Shape;237;p33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8" name="Google Shape;238;p33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34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2" name="Google Shape;242;p34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43" name="Google Shape;243;p34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4" name="Google Shape;244;p34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45" name="Google Shape;245;p34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34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47" name="Google Shape;247;p34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8" name="Google Shape;248;p34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34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0" name="Google Shape;250;p34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51" name="Google Shape;251;p34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52" name="Google Shape;252;p34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34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34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55" name="Google Shape;255;p34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56" name="Google Shape;256;p3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34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34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34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2" name="Google Shape;262;p35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63" name="Google Shape;263;p35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4" name="Google Shape;264;p35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65" name="Google Shape;265;p35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6" name="Google Shape;266;p35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67" name="Google Shape;267;p35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8" name="Google Shape;268;p35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69" name="Google Shape;269;p35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70" name="Google Shape;270;p35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71" name="Google Shape;271;p35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72" name="Google Shape;272;p35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73" name="Google Shape;273;p3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4" name="Google Shape;274;p35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75" name="Google Shape;275;p35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6" name="Google Shape;276;p35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7" name="Google Shape;277;p35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8" name="Google Shape;278;p35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35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35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81" name="Google Shape;281;p35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35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36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36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87" name="Google Shape;287;p36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88" name="Google Shape;288;p36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89" name="Google Shape;289;p3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0" name="Google Shape;290;p36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1" name="Google Shape;291;p36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2" name="Google Shape;292;p3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36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4" name="Google Shape;294;p36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7" name="Google Shape;297;p37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98" name="Google Shape;298;p3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9" name="Google Shape;299;p3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3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37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04" name="Google Shape;304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4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3" name="Google Shape;313;p4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8" name="Google Shape;318;p4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23" name="Google Shape;323;p4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4" name="Google Shape;324;p4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29" name="Google Shape;329;p4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4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4" name="Google Shape;334;p4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5" name="Google Shape;335;p4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6" name="Google Shape;336;p4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7" name="Google Shape;337;p4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8" name="Google Shape;338;p4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5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2" name="Google Shape;342;p5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5" name="Google Shape;345;p5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6" name="Google Shape;346;p5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7" name="Google Shape;347;p5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8" name="Google Shape;348;p5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1" name="Google Shape;351;p5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2" name="Google Shape;352;p5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53" name="Google Shape;353;p5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4" name="Google Shape;354;p5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5" name="Google Shape;355;p5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6" name="Google Shape;356;p5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9" name="Google Shape;359;p5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0" name="Google Shape;360;p5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1" name="Google Shape;361;p5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2" name="Google Shape;362;p5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63" name="Google Shape;363;p5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4" name="Google Shape;364;p5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5" name="Google Shape;365;p5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5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5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2" name="Google Shape;372;p5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73" name="Google Shape;373;p5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5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5" name="Google Shape;375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p5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7" name="Google Shape;377;p5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0" name="Google Shape;380;p5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81" name="Google Shape;381;p5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82" name="Google Shape;382;p5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5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5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5" name="Google Shape;385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5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7" name="Google Shape;387;p5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8" name="Google Shape;388;p5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5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5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5" name="Google Shape;395;p5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6" name="Google Shape;396;p5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7" name="Google Shape;397;p5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5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5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0" name="Google Shape;400;p5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1" name="Google Shape;401;p5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3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9"/>
          <p:cNvSpPr/>
          <p:nvPr/>
        </p:nvSpPr>
        <p:spPr>
          <a:xfrm>
            <a:off x="4629750" y="3219178"/>
            <a:ext cx="4229700" cy="1459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7" name="Google Shape;407;p59"/>
          <p:cNvSpPr/>
          <p:nvPr/>
        </p:nvSpPr>
        <p:spPr>
          <a:xfrm>
            <a:off x="4629750" y="3217800"/>
            <a:ext cx="4229700" cy="16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8" name="Google Shape;408;p59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Wise Card Program — Data Analysis </a:t>
            </a:r>
            <a:endParaRPr/>
          </a:p>
        </p:txBody>
      </p:sp>
      <p:sp>
        <p:nvSpPr>
          <p:cNvPr id="409" name="Google Shape;409;p5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0" name="Google Shape;410;p59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Yang Xue Ming 21/3/2026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11" name="Google Shape;411;p59"/>
          <p:cNvSpPr/>
          <p:nvPr/>
        </p:nvSpPr>
        <p:spPr>
          <a:xfrm rot="5400000">
            <a:off x="4731510" y="997234"/>
            <a:ext cx="659347" cy="659347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12" name="Google Shape;412;p59"/>
          <p:cNvCxnSpPr/>
          <p:nvPr/>
        </p:nvCxnSpPr>
        <p:spPr>
          <a:xfrm>
            <a:off x="283850" y="2895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" name="Google Shape;413;p59"/>
          <p:cNvCxnSpPr/>
          <p:nvPr/>
        </p:nvCxnSpPr>
        <p:spPr>
          <a:xfrm>
            <a:off x="283850" y="1751842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" name="Google Shape;414;p59"/>
          <p:cNvCxnSpPr/>
          <p:nvPr/>
        </p:nvCxnSpPr>
        <p:spPr>
          <a:xfrm>
            <a:off x="283850" y="3217783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59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0"/>
          <p:cNvSpPr txBox="1"/>
          <p:nvPr/>
        </p:nvSpPr>
        <p:spPr>
          <a:xfrm>
            <a:off x="284850" y="136050"/>
            <a:ext cx="4227300" cy="11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Methodology</a:t>
            </a:r>
            <a:endParaRPr sz="38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1" name="Google Shape;421;p60"/>
          <p:cNvSpPr txBox="1"/>
          <p:nvPr/>
        </p:nvSpPr>
        <p:spPr>
          <a:xfrm>
            <a:off x="284850" y="909075"/>
            <a:ext cx="27723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Tools used: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SQL (SQLite): data extraction, table building, all aggregations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Python (pandas, matplotlib): visualisation and analysis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2" name="Google Shape;422;p60"/>
          <p:cNvSpPr txBox="1"/>
          <p:nvPr/>
        </p:nvSpPr>
        <p:spPr>
          <a:xfrm>
            <a:off x="284850" y="2743275"/>
            <a:ext cx="2772300" cy="15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Data Preparation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18,596 transactions → filtered to 17,388 SUCCESS 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Built txn_enriched_full</a:t>
            </a:r>
            <a:r>
              <a:rPr lang="en" sz="1500">
                <a:solidFill>
                  <a:schemeClr val="lt1"/>
                </a:solidFill>
              </a:rPr>
              <a:t> via 4 SQL CTEs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3" name="Google Shape;423;p60"/>
          <p:cNvSpPr txBox="1"/>
          <p:nvPr/>
        </p:nvSpPr>
        <p:spPr>
          <a:xfrm>
            <a:off x="3057150" y="909075"/>
            <a:ext cx="2772300" cy="22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Revenue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Interchange — inter_change_fee × rate_to_gbp 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FX Spread — billing_gbp − amount_gbp (when currencies differ)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Costs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Fixed + Variable (rate × billing_gbp)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LTV CAVEAT 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Only 4 months data → extrapolated as (profit/days) × 365 65% of cards never transacted → treated as £0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4" name="Google Shape;424;p60"/>
          <p:cNvSpPr txBox="1"/>
          <p:nvPr/>
        </p:nvSpPr>
        <p:spPr>
          <a:xfrm>
            <a:off x="5696700" y="79407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rofit</a:t>
            </a:r>
            <a:r>
              <a:rPr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= interchange + conversion − fixed − variable</a:t>
            </a:r>
            <a:endParaRPr sz="1100">
              <a:solidFill>
                <a:srgbClr val="EAECF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9" name="Google Shape;429;p61"/>
          <p:cNvCxnSpPr/>
          <p:nvPr/>
        </p:nvCxnSpPr>
        <p:spPr>
          <a:xfrm>
            <a:off x="283850" y="8296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0" name="Google Shape;430;p61"/>
          <p:cNvSpPr txBox="1"/>
          <p:nvPr>
            <p:ph type="title"/>
          </p:nvPr>
        </p:nvSpPr>
        <p:spPr>
          <a:xfrm>
            <a:off x="283850" y="107950"/>
            <a:ext cx="8573100" cy="60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500"/>
              <a:t>E-commerce drives profit, while ATM withdrawals are structurally loss-making</a:t>
            </a:r>
            <a:endParaRPr sz="2500"/>
          </a:p>
        </p:txBody>
      </p:sp>
      <p:cxnSp>
        <p:nvCxnSpPr>
          <p:cNvPr id="431" name="Google Shape;431;p61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32" name="Google Shape;432;p61" title="q1_profit_by_txn_typ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3375" y="2496987"/>
            <a:ext cx="4763976" cy="2070049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61"/>
          <p:cNvSpPr txBox="1"/>
          <p:nvPr/>
        </p:nvSpPr>
        <p:spPr>
          <a:xfrm>
            <a:off x="284850" y="2521275"/>
            <a:ext cx="3883500" cy="20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ECOM</a:t>
            </a: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— best margin Strong interchange + variable cost earns back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POS</a:t>
            </a: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— thin but reliable 75% of volume, frequency compensates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ATM</a:t>
            </a: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— </a:t>
            </a:r>
            <a:r>
              <a:rPr lang="en" sz="1200">
                <a:solidFill>
                  <a:schemeClr val="lt1"/>
                </a:solidFill>
                <a:highlight>
                  <a:srgbClr val="FF0000"/>
                </a:highlight>
                <a:latin typeface="Inter"/>
                <a:ea typeface="Inter"/>
                <a:cs typeface="Inter"/>
                <a:sym typeface="Inter"/>
              </a:rPr>
              <a:t>loss-making </a:t>
            </a: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by design Negative interchange + £0.98 variable scheme fees Wise absorbs this as a customer acquisition cost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434" name="Google Shape;434;p61"/>
          <p:cNvGraphicFramePr/>
          <p:nvPr/>
        </p:nvGraphicFramePr>
        <p:xfrm>
          <a:off x="284850" y="82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{B33B6DC1-8259-424D-9EF0-F45E665E5F09}</a:tableStyleId>
              </a:tblPr>
              <a:tblGrid>
                <a:gridCol w="1704775"/>
                <a:gridCol w="796475"/>
                <a:gridCol w="1267275"/>
                <a:gridCol w="1086225"/>
                <a:gridCol w="1131525"/>
                <a:gridCol w="1433250"/>
                <a:gridCol w="1086225"/>
              </a:tblGrid>
              <a:tr h="301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Type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# Txns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Interchange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Conv. Rev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Fixed Cost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Variable Cost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Avg Profit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ECOM Purchase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2,790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£0.224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-£0.033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£0.060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-£0.074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£+0.206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8038"/>
                    </a:solidFill>
                  </a:tcPr>
                </a:tc>
              </a:tr>
              <a:tr h="317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POS Purchase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13,029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£0.087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-£0.019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£0.060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-£0.016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£+0.025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Cash Withdrawal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1,569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-£0.510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£0.029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£0.060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£0.983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£-1.524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435" name="Google Shape;435;p61"/>
          <p:cNvSpPr txBox="1"/>
          <p:nvPr/>
        </p:nvSpPr>
        <p:spPr>
          <a:xfrm>
            <a:off x="2555259" y="23716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* Conversion revenue can be negative when the FX spread </a:t>
            </a:r>
            <a:endParaRPr sz="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  goes against Wise (merchant rate &gt; customer billing rate)</a:t>
            </a:r>
            <a:endParaRPr sz="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0" name="Google Shape;440;p62"/>
          <p:cNvCxnSpPr/>
          <p:nvPr/>
        </p:nvCxnSpPr>
        <p:spPr>
          <a:xfrm>
            <a:off x="283850" y="8296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1" name="Google Shape;441;p62"/>
          <p:cNvSpPr txBox="1"/>
          <p:nvPr>
            <p:ph type="title"/>
          </p:nvPr>
        </p:nvSpPr>
        <p:spPr>
          <a:xfrm>
            <a:off x="283850" y="224400"/>
            <a:ext cx="8646300" cy="60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300"/>
              <a:t>12-Month LTV Forecast: The card program is loss-making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300"/>
              <a:t>driven by high ATM costs and low activation rates.</a:t>
            </a:r>
            <a:endParaRPr sz="2300"/>
          </a:p>
        </p:txBody>
      </p:sp>
      <p:cxnSp>
        <p:nvCxnSpPr>
          <p:cNvPr id="442" name="Google Shape;442;p62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3" name="Google Shape;443;p62"/>
          <p:cNvSpPr txBox="1"/>
          <p:nvPr/>
        </p:nvSpPr>
        <p:spPr>
          <a:xfrm>
            <a:off x="567650" y="2566975"/>
            <a:ext cx="3040200" cy="20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Forecasting approach (no full 12M data available):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≥ 30 days  →  (profit ÷ days) × 365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&lt; 30 days  →  observed profit as-is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No txns    →  £0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Key insight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highlight>
                  <a:srgbClr val="FFFF00"/>
                </a:highlight>
                <a:latin typeface="Inter"/>
                <a:ea typeface="Inter"/>
                <a:cs typeface="Inter"/>
                <a:sym typeface="Inter"/>
              </a:rPr>
              <a:t>Active customers cost £-11.98 each</a:t>
            </a:r>
            <a:endParaRPr sz="1200">
              <a:solidFill>
                <a:schemeClr val="lt1"/>
              </a:solidFill>
              <a:highlight>
                <a:srgbClr val="FFFF00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highlight>
                  <a:srgbClr val="FFFF00"/>
                </a:highlight>
                <a:latin typeface="Inter"/>
                <a:ea typeface="Inter"/>
                <a:cs typeface="Inter"/>
                <a:sym typeface="Inter"/>
              </a:rPr>
              <a:t>Inactive cards mask the true loss</a:t>
            </a:r>
            <a:endParaRPr sz="1200">
              <a:solidFill>
                <a:schemeClr val="lt1"/>
              </a:solidFill>
              <a:highlight>
                <a:srgbClr val="FFFF00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highlight>
                  <a:srgbClr val="FFFF00"/>
                </a:highlight>
                <a:latin typeface="Inter"/>
                <a:ea typeface="Inter"/>
                <a:cs typeface="Inter"/>
                <a:sym typeface="Inter"/>
              </a:rPr>
              <a:t>Card adoption ≠ card usage</a:t>
            </a:r>
            <a:endParaRPr sz="1200">
              <a:solidFill>
                <a:schemeClr val="lt1"/>
              </a:solidFill>
              <a:highlight>
                <a:srgbClr val="FFFF00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444" name="Google Shape;444;p62"/>
          <p:cNvGraphicFramePr/>
          <p:nvPr/>
        </p:nvGraphicFramePr>
        <p:xfrm>
          <a:off x="284850" y="82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{B33B6DC1-8259-424D-9EF0-F45E665E5F09}</a:tableStyleId>
              </a:tblPr>
              <a:tblGrid>
                <a:gridCol w="694550"/>
                <a:gridCol w="694550"/>
                <a:gridCol w="947200"/>
                <a:gridCol w="986700"/>
              </a:tblGrid>
              <a:tr h="454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All Cards</a:t>
                      </a:r>
                      <a:endParaRPr b="1" sz="1100"/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n=2901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Active Cards</a:t>
                      </a:r>
                      <a:endParaRPr b="1" sz="1100"/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n=626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Total Loss</a:t>
                      </a:r>
                      <a:endParaRPr b="1" sz="1100"/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12M forecast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Avg 12M LTV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-£2.69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FF0000"/>
                          </a:highlight>
                        </a:rPr>
                        <a:t>-£11.98</a:t>
                      </a:r>
                      <a:endParaRPr>
                        <a:highlight>
                          <a:srgbClr val="FF0000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-£7802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445" name="Google Shape;445;p62" title="q2_ltv_full.png"/>
          <p:cNvPicPr preferRelativeResize="0"/>
          <p:nvPr/>
        </p:nvPicPr>
        <p:blipFill rotWithShape="1">
          <a:blip r:embed="rId3">
            <a:alphaModFix/>
          </a:blip>
          <a:srcRect b="52997" l="12344" r="63937" t="11497"/>
          <a:stretch/>
        </p:blipFill>
        <p:spPr>
          <a:xfrm>
            <a:off x="5403275" y="1036800"/>
            <a:ext cx="2956948" cy="2770476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62"/>
          <p:cNvSpPr txBox="1"/>
          <p:nvPr/>
        </p:nvSpPr>
        <p:spPr>
          <a:xfrm>
            <a:off x="3714163" y="1131400"/>
            <a:ext cx="1582800" cy="1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Why is avg LTV only £-2.69?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65% of cards never transacted — pulling average toward £0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For users with very short observation windows (&lt;30 days), annualisation would overstate LTV, so observed profit was used conservatively.</a:t>
            </a:r>
            <a:endParaRPr sz="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7" name="Google Shape;447;p62"/>
          <p:cNvSpPr txBox="1"/>
          <p:nvPr/>
        </p:nvSpPr>
        <p:spPr>
          <a:xfrm>
            <a:off x="356100" y="2221938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Only 4 months of data available → LTV must be extrapolated, not observed</a:t>
            </a:r>
            <a:endParaRPr sz="2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2" name="Google Shape;452;p63"/>
          <p:cNvCxnSpPr/>
          <p:nvPr/>
        </p:nvCxnSpPr>
        <p:spPr>
          <a:xfrm>
            <a:off x="283850" y="8296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3" name="Google Shape;453;p63"/>
          <p:cNvSpPr txBox="1"/>
          <p:nvPr>
            <p:ph type="title"/>
          </p:nvPr>
        </p:nvSpPr>
        <p:spPr>
          <a:xfrm>
            <a:off x="283850" y="110550"/>
            <a:ext cx="8573100" cy="60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500"/>
              <a:t>Market performance varies significantly, driven by FX usage, spend, and scale</a:t>
            </a:r>
            <a:endParaRPr sz="2500"/>
          </a:p>
        </p:txBody>
      </p:sp>
      <p:cxnSp>
        <p:nvCxnSpPr>
          <p:cNvPr id="454" name="Google Shape;454;p63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5" name="Google Shape;455;p63"/>
          <p:cNvSpPr txBox="1"/>
          <p:nvPr/>
        </p:nvSpPr>
        <p:spPr>
          <a:xfrm>
            <a:off x="800925" y="3586113"/>
            <a:ext cx="3486000" cy="8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SIMILARITIES</a:t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POS dominates everywhere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Inter Region = Loss making in every market </a:t>
            </a:r>
            <a:r>
              <a:rPr b="1"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456" name="Google Shape;456;p63"/>
          <p:cNvGraphicFramePr/>
          <p:nvPr/>
        </p:nvGraphicFramePr>
        <p:xfrm>
          <a:off x="4168350" y="888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{B33B6DC1-8259-424D-9EF0-F45E665E5F09}</a:tableStyleId>
              </a:tblPr>
              <a:tblGrid>
                <a:gridCol w="732350"/>
                <a:gridCol w="1098500"/>
                <a:gridCol w="1410425"/>
                <a:gridCol w="1017150"/>
                <a:gridCol w="528900"/>
              </a:tblGrid>
              <a:tr h="242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/>
                        <a:t>Market</a:t>
                      </a:r>
                      <a:endParaRPr b="1"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/>
                        <a:t>Total Profit</a:t>
                      </a:r>
                      <a:endParaRPr b="1"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/>
                        <a:t>Avg Profit/Txn</a:t>
                      </a:r>
                      <a:endParaRPr b="1"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/>
                        <a:t>Avg Spend</a:t>
                      </a:r>
                      <a:endParaRPr b="1"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/>
                        <a:t>FX%</a:t>
                      </a:r>
                      <a:endParaRPr b="1" sz="600"/>
                    </a:p>
                  </a:txBody>
                  <a:tcPr marT="91425" marB="91425" marR="91425" marL="91425"/>
                </a:tc>
              </a:tr>
              <a:tr h="25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🟢 ES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£+50.9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£+0.081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£48.6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28%</a:t>
                      </a:r>
                      <a:endParaRPr sz="700"/>
                    </a:p>
                  </a:txBody>
                  <a:tcPr marT="91425" marB="91425" marR="91425" marL="91425"/>
                </a:tc>
              </a:tr>
              <a:tr h="25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🟢 CH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£+49.4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£+0.065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£47.9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15%</a:t>
                      </a:r>
                      <a:endParaRPr sz="700"/>
                    </a:p>
                  </a:txBody>
                  <a:tcPr marT="91425" marB="91425" marR="91425" marL="91425"/>
                </a:tc>
              </a:tr>
              <a:tr h="25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🟢 FI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£+40.2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£+0.235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£14.9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41%</a:t>
                      </a:r>
                      <a:endParaRPr sz="700"/>
                    </a:p>
                  </a:txBody>
                  <a:tcPr marT="91425" marB="91425" marR="91425" marL="91425"/>
                </a:tc>
              </a:tr>
              <a:tr h="25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🟢 IT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£+23.8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£+0.069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£43.3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31%</a:t>
                      </a:r>
                      <a:endParaRPr sz="700"/>
                    </a:p>
                  </a:txBody>
                  <a:tcPr marT="91425" marB="91425" marR="91425" marL="91425"/>
                </a:tc>
              </a:tr>
              <a:tr h="25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🔴 DE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£-148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£-0.196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£37.2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23%</a:t>
                      </a:r>
                      <a:endParaRPr sz="700"/>
                    </a:p>
                  </a:txBody>
                  <a:tcPr marT="91425" marB="91425" marR="91425" marL="91425"/>
                </a:tc>
              </a:tr>
              <a:tr h="25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🔴 FR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£-193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£-0.294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£56.9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15%</a:t>
                      </a:r>
                      <a:endParaRPr sz="700"/>
                    </a:p>
                  </a:txBody>
                  <a:tcPr marT="91425" marB="91425" marR="91425" marL="91425"/>
                </a:tc>
              </a:tr>
              <a:tr h="25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🔴 EE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£-204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£-0.102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£15.1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13%</a:t>
                      </a:r>
                      <a:endParaRPr sz="700"/>
                    </a:p>
                  </a:txBody>
                  <a:tcPr marT="91425" marB="91425" marR="91425" marL="91425"/>
                </a:tc>
              </a:tr>
              <a:tr h="25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🔴 GB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£-712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£-0.087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£33.3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17%</a:t>
                      </a:r>
                      <a:endParaRPr sz="7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457" name="Google Shape;457;p63" title="q3a_market_performance.png"/>
          <p:cNvPicPr preferRelativeResize="0"/>
          <p:nvPr/>
        </p:nvPicPr>
        <p:blipFill rotWithShape="1">
          <a:blip r:embed="rId3">
            <a:alphaModFix/>
          </a:blip>
          <a:srcRect b="47362" l="0" r="50000" t="3231"/>
          <a:stretch/>
        </p:blipFill>
        <p:spPr>
          <a:xfrm>
            <a:off x="214525" y="819825"/>
            <a:ext cx="3704335" cy="2493374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63"/>
          <p:cNvSpPr txBox="1"/>
          <p:nvPr/>
        </p:nvSpPr>
        <p:spPr>
          <a:xfrm>
            <a:off x="4941750" y="3586113"/>
            <a:ext cx="3486000" cy="8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DIFFERENCES</a:t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FX usage: RO 88% vs IE 2%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Avg spend: FR £56.9 vs SK £12.6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GB = 47% of all txns but loss making at scale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ES profitable despite 28% FX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FI highest profit/txn but tiny base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3" name="Google Shape;463;p64"/>
          <p:cNvCxnSpPr/>
          <p:nvPr/>
        </p:nvCxnSpPr>
        <p:spPr>
          <a:xfrm>
            <a:off x="283850" y="8296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4" name="Google Shape;464;p64"/>
          <p:cNvSpPr txBox="1"/>
          <p:nvPr>
            <p:ph type="title"/>
          </p:nvPr>
        </p:nvSpPr>
        <p:spPr>
          <a:xfrm>
            <a:off x="343200" y="81775"/>
            <a:ext cx="8573100" cy="60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500"/>
              <a:t>Growth Opportunity: Spain &amp; Italy show strongest upside</a:t>
            </a:r>
            <a:endParaRPr sz="1100">
              <a:solidFill>
                <a:srgbClr val="EAECF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cxnSp>
        <p:nvCxnSpPr>
          <p:cNvPr id="465" name="Google Shape;465;p64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6" name="Google Shape;466;p64" title="q3c_growth_opportunities.png"/>
          <p:cNvPicPr preferRelativeResize="0"/>
          <p:nvPr/>
        </p:nvPicPr>
        <p:blipFill rotWithShape="1">
          <a:blip r:embed="rId3">
            <a:alphaModFix/>
          </a:blip>
          <a:srcRect b="0" l="0" r="50000" t="6139"/>
          <a:stretch/>
        </p:blipFill>
        <p:spPr>
          <a:xfrm>
            <a:off x="284850" y="829750"/>
            <a:ext cx="2994847" cy="224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67" name="Google Shape;467;p64"/>
          <p:cNvGraphicFramePr/>
          <p:nvPr/>
        </p:nvGraphicFramePr>
        <p:xfrm>
          <a:off x="3481900" y="82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{A832E23C-DA6A-46AE-A3DB-74699B9352FF}</a:tableStyleId>
              </a:tblPr>
              <a:tblGrid>
                <a:gridCol w="1858825"/>
                <a:gridCol w="1858825"/>
                <a:gridCol w="1858825"/>
              </a:tblGrid>
              <a:tr h="315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Spain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 Italy</a:t>
                      </a:r>
                      <a:endParaRPr b="1" sz="900"/>
                    </a:p>
                  </a:txBody>
                  <a:tcPr marT="91425" marB="91425" marR="91425" marL="91425"/>
                </a:tc>
              </a:tr>
              <a:tr h="30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Total Profit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£+50.9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£+23.8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30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Avg Profit/Txn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£+0.081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£+0.069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30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Avg Spend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£48.6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£43.3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30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FX Usage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28%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31%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30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Active Cards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51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19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30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Opportunity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</a:rPr>
                        <a:t>Convert FX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Convert FX</a:t>
                      </a:r>
                      <a:endParaRPr sz="9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68" name="Google Shape;468;p64"/>
          <p:cNvSpPr txBox="1"/>
          <p:nvPr/>
        </p:nvSpPr>
        <p:spPr>
          <a:xfrm>
            <a:off x="284850" y="3212625"/>
            <a:ext cx="30996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ITALY/</a:t>
            </a:r>
            <a:r>
              <a:rPr b="1"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SPAIN</a:t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Citizens spend &gt;40 GBP per transaction.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Push multi-currency features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Encourage primary card usage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Loyalty / retention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9" name="Google Shape;469;p64"/>
          <p:cNvSpPr txBox="1"/>
          <p:nvPr/>
        </p:nvSpPr>
        <p:spPr>
          <a:xfrm>
            <a:off x="3355350" y="3212625"/>
            <a:ext cx="2548800" cy="8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HUNGARY</a:t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Increase spend per user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Encourage higher ticket purchases, more frequent usage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0" name="Google Shape;470;p64"/>
          <p:cNvSpPr txBox="1"/>
          <p:nvPr/>
        </p:nvSpPr>
        <p:spPr>
          <a:xfrm>
            <a:off x="6215325" y="3212625"/>
            <a:ext cx="2548800" cy="8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ALL RED MARKETS</a:t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Reduce ATM usage, every withdrawal costs £-1.52/txn regardless of market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highlight>
                  <a:srgbClr val="FFFF00"/>
                </a:highlight>
                <a:latin typeface="Inter"/>
                <a:ea typeface="Inter"/>
                <a:cs typeface="Inter"/>
                <a:sym typeface="Inter"/>
              </a:rPr>
              <a:t>Profitability depends on shifting user behaviour toward digital payments and FX-generating transactions.</a:t>
            </a:r>
            <a:endParaRPr sz="1200">
              <a:solidFill>
                <a:schemeClr val="lt1"/>
              </a:solidFill>
              <a:highlight>
                <a:srgbClr val="FFFF00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71" name="Google Shape;471;p64"/>
          <p:cNvCxnSpPr/>
          <p:nvPr/>
        </p:nvCxnSpPr>
        <p:spPr>
          <a:xfrm rot="10800000">
            <a:off x="1444100" y="1555575"/>
            <a:ext cx="1548000" cy="248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